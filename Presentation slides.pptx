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LVIS BECKHAM" initials="EB" lastIdx="1" clrIdx="0">
    <p:extLst>
      <p:ext uri="{19B8F6BF-5375-455C-9EA6-DF929625EA0E}">
        <p15:presenceInfo xmlns:p15="http://schemas.microsoft.com/office/powerpoint/2012/main" userId="a310ace29a43c85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69" d="100"/>
          <a:sy n="69" d="100"/>
        </p:scale>
        <p:origin x="70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445188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222904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305483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56163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785591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5074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073580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39705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69270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539627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602390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67539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5560614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83642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1069055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6889727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99814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B09C7F5-E92E-4B4A-8836-28C119BBAAF3}" type="datetimeFigureOut">
              <a:rPr lang="en-UG" smtClean="0"/>
              <a:t>27/05/2026</a:t>
            </a:fld>
            <a:endParaRPr lang="en-U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4225D68-3AAD-4838-9595-9E014B3CB152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103636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4FEEC-3CF3-4584-96E5-4326B86ECB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253" y="156258"/>
            <a:ext cx="9144000" cy="2387600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lgerian" panose="04020705040A02060702" pitchFamily="82" charset="0"/>
              </a:rPr>
              <a:t>TEMB 1202-COMPUTING</a:t>
            </a:r>
            <a:br>
              <a:rPr lang="en-US" sz="2800" b="1" dirty="0">
                <a:latin typeface="Algerian" panose="04020705040A02060702" pitchFamily="82" charset="0"/>
              </a:rPr>
            </a:br>
            <a:r>
              <a:rPr lang="en-US" b="1" dirty="0">
                <a:latin typeface="Algerian" panose="04020705040A02060702" pitchFamily="82" charset="0"/>
              </a:rPr>
              <a:t>FARM PRODUCE SALES SYSTEM</a:t>
            </a:r>
            <a:endParaRPr lang="en-UG" sz="2800" b="1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28DFA-A1FD-4A55-9D7B-81AB647BAA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43859"/>
            <a:ext cx="9144000" cy="4157884"/>
          </a:xfrm>
        </p:spPr>
        <p:txBody>
          <a:bodyPr/>
          <a:lstStyle/>
          <a:p>
            <a:r>
              <a:rPr lang="en-US" b="1" dirty="0"/>
              <a:t>GROUP B EVENING</a:t>
            </a:r>
          </a:p>
          <a:p>
            <a:endParaRPr lang="en-UG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D1E426F-A8B1-45AF-9317-ACE32021B5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379992"/>
              </p:ext>
            </p:extLst>
          </p:nvPr>
        </p:nvGraphicFramePr>
        <p:xfrm>
          <a:off x="1153609" y="3002567"/>
          <a:ext cx="9884782" cy="369917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942391">
                  <a:extLst>
                    <a:ext uri="{9D8B030D-6E8A-4147-A177-3AD203B41FA5}">
                      <a16:colId xmlns:a16="http://schemas.microsoft.com/office/drawing/2014/main" val="17686102"/>
                    </a:ext>
                  </a:extLst>
                </a:gridCol>
                <a:gridCol w="4942391">
                  <a:extLst>
                    <a:ext uri="{9D8B030D-6E8A-4147-A177-3AD203B41FA5}">
                      <a16:colId xmlns:a16="http://schemas.microsoft.com/office/drawing/2014/main" val="2867127483"/>
                    </a:ext>
                  </a:extLst>
                </a:gridCol>
              </a:tblGrid>
              <a:tr h="611819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REGISTRATION NUMBER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3501779"/>
                  </a:ext>
                </a:extLst>
              </a:tr>
              <a:tr h="611819">
                <a:tc>
                  <a:txBody>
                    <a:bodyPr/>
                    <a:lstStyle/>
                    <a:p>
                      <a:r>
                        <a:rPr lang="en-US" dirty="0"/>
                        <a:t>OKELLO ELVIS BECHKAM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25/U/BIE/01412/PE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8830885"/>
                  </a:ext>
                </a:extLst>
              </a:tr>
              <a:tr h="611819">
                <a:tc>
                  <a:txBody>
                    <a:bodyPr/>
                    <a:lstStyle/>
                    <a:p>
                      <a:r>
                        <a:rPr lang="en-US" dirty="0"/>
                        <a:t>OKIDI EMMANUEL OPIRO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25/U/BIE/01413/PE</a:t>
                      </a:r>
                    </a:p>
                    <a:p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36590"/>
                  </a:ext>
                </a:extLst>
              </a:tr>
              <a:tr h="611819">
                <a:tc>
                  <a:txBody>
                    <a:bodyPr/>
                    <a:lstStyle/>
                    <a:p>
                      <a:r>
                        <a:rPr lang="en-US" dirty="0"/>
                        <a:t>SSENYANGE SIMON PETER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25/U/BIE/11579/PE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998633"/>
                  </a:ext>
                </a:extLst>
              </a:tr>
              <a:tr h="611819">
                <a:tc>
                  <a:txBody>
                    <a:bodyPr/>
                    <a:lstStyle/>
                    <a:p>
                      <a:r>
                        <a:rPr lang="en-US" dirty="0"/>
                        <a:t>KASOZI JOASHIN SAMMY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25/U/BIE/01379/PE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8733905"/>
                  </a:ext>
                </a:extLst>
              </a:tr>
              <a:tr h="611819">
                <a:tc>
                  <a:txBody>
                    <a:bodyPr/>
                    <a:lstStyle/>
                    <a:p>
                      <a:r>
                        <a:rPr lang="en-US" dirty="0"/>
                        <a:t>BASAIJA PATRICIA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25/U/BIE/01362/PE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3727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015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A9587-3BB3-4E41-BBC0-F0B44B387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INTRODUCTION</a:t>
            </a:r>
            <a:r>
              <a:rPr lang="en-US" dirty="0"/>
              <a:t>: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9672-8FB2-40DF-9560-142BE499D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system provides a complete, menu driven C program that allows authorized users to manage produce inventory through the full lifecycle from registration to sales reporting.</a:t>
            </a:r>
          </a:p>
          <a:p>
            <a:pPr marL="0" indent="0">
              <a:buNone/>
            </a:pPr>
            <a:r>
              <a:rPr lang="en-US" dirty="0"/>
              <a:t>The system manages up to 100 produce items, enforces business rules on sales ,supports bulk buyer discounts, flags perishable and low stock items, and generate a comprehensive sale report identifying the highest selling produce.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190784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6DEEB-0AFD-4839-A4A2-32718CCF3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Problem statement</a:t>
            </a:r>
            <a:endParaRPr lang="en-UG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A73E9-7EE9-41DE-A412-807A02CC8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Most farm stores in Uganda rely on manual record keeping leading to:</a:t>
            </a:r>
          </a:p>
          <a:p>
            <a:r>
              <a:rPr lang="en-US" dirty="0"/>
              <a:t>Errors in stock management.</a:t>
            </a:r>
          </a:p>
          <a:p>
            <a:r>
              <a:rPr lang="en-US" dirty="0"/>
              <a:t>Missed discount opportunities.</a:t>
            </a:r>
          </a:p>
          <a:p>
            <a:r>
              <a:rPr lang="en-US" dirty="0"/>
              <a:t>Spoilage of perishable goods due to lack of timely alerts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248845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5CA5C-CEDD-4026-A7F6-256043020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Objectives:</a:t>
            </a:r>
            <a:endParaRPr lang="en-UG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43DB6-1403-4B81-826A-94158EDD8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Allow authorized users to register new produce items with full details.</a:t>
            </a:r>
          </a:p>
          <a:p>
            <a:r>
              <a:rPr lang="en-US" dirty="0"/>
              <a:t>Enable searching of produce by name or ID.</a:t>
            </a:r>
          </a:p>
          <a:p>
            <a:r>
              <a:rPr lang="en-US" dirty="0"/>
              <a:t>Support updating produce details and deleting records.</a:t>
            </a:r>
          </a:p>
          <a:p>
            <a:r>
              <a:rPr lang="en-US" dirty="0"/>
              <a:t>Process sales transactions with quantity validation and discount logic.</a:t>
            </a:r>
          </a:p>
          <a:p>
            <a:r>
              <a:rPr lang="en-US" dirty="0"/>
              <a:t>Flag perishable items that have been in stock too long.</a:t>
            </a:r>
          </a:p>
          <a:p>
            <a:r>
              <a:rPr lang="en-US" dirty="0"/>
              <a:t>Alert staff when stock levels fall below a restocking threshold.</a:t>
            </a:r>
          </a:p>
          <a:p>
            <a:r>
              <a:rPr lang="en-US" dirty="0"/>
              <a:t>Warn about loss making sales where the selling price is below cost price.</a:t>
            </a:r>
          </a:p>
          <a:p>
            <a:r>
              <a:rPr lang="en-US" dirty="0"/>
              <a:t>Generate a summary report showing total sales, revenue and remaining stock .</a:t>
            </a:r>
          </a:p>
          <a:p>
            <a:r>
              <a:rPr lang="en-US" dirty="0"/>
              <a:t>Identify the highest selling produce.</a:t>
            </a:r>
          </a:p>
          <a:p>
            <a:r>
              <a:rPr lang="en-US" dirty="0"/>
              <a:t>Require authentication before system access.</a:t>
            </a:r>
          </a:p>
          <a:p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652866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F560-6DE0-4DE4-98E0-94B691B99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602" y="106521"/>
            <a:ext cx="10515600" cy="1120395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System features</a:t>
            </a:r>
            <a:endParaRPr lang="en-UG" b="1" dirty="0">
              <a:latin typeface="Algerian" panose="04020705040A02060702" pitchFamily="82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62481D6-2296-46D9-9126-1C549C90FA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7546564"/>
              </p:ext>
            </p:extLst>
          </p:nvPr>
        </p:nvGraphicFramePr>
        <p:xfrm>
          <a:off x="930798" y="1432084"/>
          <a:ext cx="10515597" cy="52542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178215">
                  <a:extLst>
                    <a:ext uri="{9D8B030D-6E8A-4147-A177-3AD203B41FA5}">
                      <a16:colId xmlns:a16="http://schemas.microsoft.com/office/drawing/2014/main" val="1232355893"/>
                    </a:ext>
                  </a:extLst>
                </a:gridCol>
                <a:gridCol w="4224759">
                  <a:extLst>
                    <a:ext uri="{9D8B030D-6E8A-4147-A177-3AD203B41FA5}">
                      <a16:colId xmlns:a16="http://schemas.microsoft.com/office/drawing/2014/main" val="248436199"/>
                    </a:ext>
                  </a:extLst>
                </a:gridCol>
                <a:gridCol w="3112623">
                  <a:extLst>
                    <a:ext uri="{9D8B030D-6E8A-4147-A177-3AD203B41FA5}">
                      <a16:colId xmlns:a16="http://schemas.microsoft.com/office/drawing/2014/main" val="2243699180"/>
                    </a:ext>
                  </a:extLst>
                </a:gridCol>
              </a:tblGrid>
              <a:tr h="590762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RULES APPLIED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219961"/>
                  </a:ext>
                </a:extLst>
              </a:tr>
              <a:tr h="590762">
                <a:tc>
                  <a:txBody>
                    <a:bodyPr/>
                    <a:lstStyle/>
                    <a:p>
                      <a:r>
                        <a:rPr lang="en-US" dirty="0"/>
                        <a:t>1. Register Produce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new produce with name, category, cost price, selling price, quantity, perishability, and stock date.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Duplicate ID check; mandatory fields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7749761"/>
                  </a:ext>
                </a:extLst>
              </a:tr>
              <a:tr h="590762">
                <a:tc>
                  <a:txBody>
                    <a:bodyPr/>
                    <a:lstStyle/>
                    <a:p>
                      <a:r>
                        <a:rPr lang="en-US" dirty="0"/>
                        <a:t>2. Search Produce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Find a record by produce ID or browse all registered items with a formatted display.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Case-intensive name search.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0323692"/>
                  </a:ext>
                </a:extLst>
              </a:tr>
              <a:tr h="590762">
                <a:tc>
                  <a:txBody>
                    <a:bodyPr/>
                    <a:lstStyle/>
                    <a:p>
                      <a:r>
                        <a:rPr lang="en-US" dirty="0"/>
                        <a:t>3. Update Produce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Modify any field of an existing produce record after confirming the item exists.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Preserves unchanged fields.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16927"/>
                  </a:ext>
                </a:extLst>
              </a:tr>
              <a:tr h="590762">
                <a:tc>
                  <a:txBody>
                    <a:bodyPr/>
                    <a:lstStyle/>
                    <a:p>
                      <a:r>
                        <a:rPr lang="en-US" dirty="0"/>
                        <a:t>4. Delete Produce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Remove a produce record from the system with user information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Confirmation prompt; cannot delete if unsold quantity 0.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563569"/>
                  </a:ext>
                </a:extLst>
              </a:tr>
              <a:tr h="590762">
                <a:tc>
                  <a:txBody>
                    <a:bodyPr/>
                    <a:lstStyle/>
                    <a:p>
                      <a:r>
                        <a:rPr lang="en-US" dirty="0"/>
                        <a:t>5. Sell Produce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Record a sale: validates stock, applies bulk discount, updates quantity and accumulates revenue.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 5 business rules enforced.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903010"/>
                  </a:ext>
                </a:extLst>
              </a:tr>
              <a:tr h="590762">
                <a:tc>
                  <a:txBody>
                    <a:bodyPr/>
                    <a:lstStyle/>
                    <a:p>
                      <a:r>
                        <a:rPr lang="en-US" dirty="0"/>
                        <a:t>6. Sales Summary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total units sold, total revenue, remaining stock and the highest selling produce.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Sorted report; identifies top seller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716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470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B1AF1-FA0E-41A7-9800-D4EF28EA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104489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Data Structures</a:t>
            </a:r>
            <a:endParaRPr lang="en-UG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F3807-7BE5-4F81-942D-498C086E9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8653"/>
            <a:ext cx="10515600" cy="2008210"/>
          </a:xfrm>
        </p:spPr>
        <p:txBody>
          <a:bodyPr>
            <a:normAutofit/>
          </a:bodyPr>
          <a:lstStyle/>
          <a:p>
            <a:r>
              <a:rPr lang="en-US" dirty="0"/>
              <a:t>All produce data is stored in a single C struct called Produce; which is an array of up to 100 structs acting as the in memory database for the current session.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EE6A76-9C7D-4A8B-9BD8-CD2735FF214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088216" y="2245487"/>
            <a:ext cx="10602214" cy="442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930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7135E-79FF-4E14-A5C1-0F55C66C1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1243386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System architecture</a:t>
            </a:r>
            <a:endParaRPr lang="en-UG" b="1" dirty="0">
              <a:latin typeface="Algerian" panose="04020705040A02060702" pitchFamily="82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10F76A-67BE-4EEF-A025-49C5E3E9AE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3513400"/>
              </p:ext>
            </p:extLst>
          </p:nvPr>
        </p:nvGraphicFramePr>
        <p:xfrm>
          <a:off x="838203" y="1385786"/>
          <a:ext cx="10515597" cy="5371801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49154029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4369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819634054"/>
                    </a:ext>
                  </a:extLst>
                </a:gridCol>
              </a:tblGrid>
              <a:tr h="466163">
                <a:tc>
                  <a:txBody>
                    <a:bodyPr/>
                    <a:lstStyle/>
                    <a:p>
                      <a:r>
                        <a:rPr lang="en-US" dirty="0"/>
                        <a:t>LAYER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RESPONSIBILITY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KEY FUNCTIONS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8732736"/>
                  </a:ext>
                </a:extLst>
              </a:tr>
              <a:tr h="180710">
                <a:tc>
                  <a:txBody>
                    <a:bodyPr/>
                    <a:lstStyle/>
                    <a:p>
                      <a:r>
                        <a:rPr lang="en-US" dirty="0"/>
                        <a:t>UI/ Menu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Display menus, collect user input, format output.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main(),</a:t>
                      </a:r>
                    </a:p>
                    <a:p>
                      <a:r>
                        <a:rPr lang="en-US" dirty="0"/>
                        <a:t>displayMenu(),</a:t>
                      </a:r>
                    </a:p>
                    <a:p>
                      <a:r>
                        <a:rPr lang="en-US" dirty="0"/>
                        <a:t>printProduceTable()</a:t>
                      </a:r>
                    </a:p>
                    <a:p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104637"/>
                  </a:ext>
                </a:extLst>
              </a:tr>
              <a:tr h="806899">
                <a:tc>
                  <a:txBody>
                    <a:bodyPr/>
                    <a:lstStyle/>
                    <a:p>
                      <a:r>
                        <a:rPr lang="en-US" dirty="0"/>
                        <a:t>Business logic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Enforce all five business rules, compute discounts and flags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sellProduce(),</a:t>
                      </a:r>
                    </a:p>
                    <a:p>
                      <a:r>
                        <a:rPr lang="en-US" dirty="0"/>
                        <a:t>checkPerishable(),</a:t>
                      </a:r>
                    </a:p>
                    <a:p>
                      <a:r>
                        <a:rPr lang="en-US" dirty="0"/>
                        <a:t>applyDiscount()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194752"/>
                  </a:ext>
                </a:extLst>
              </a:tr>
              <a:tr h="806899">
                <a:tc>
                  <a:txBody>
                    <a:bodyPr/>
                    <a:lstStyle/>
                    <a:p>
                      <a:r>
                        <a:rPr lang="en-US" dirty="0"/>
                        <a:t>Data management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CRUD operations on the inventory array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addProduce(),</a:t>
                      </a:r>
                    </a:p>
                    <a:p>
                      <a:r>
                        <a:rPr lang="en-US" dirty="0"/>
                        <a:t>searchProduce(),</a:t>
                      </a:r>
                    </a:p>
                    <a:p>
                      <a:r>
                        <a:rPr lang="en-US" dirty="0"/>
                        <a:t>updateProduce(),</a:t>
                      </a:r>
                    </a:p>
                    <a:p>
                      <a:r>
                        <a:rPr lang="en-US" dirty="0"/>
                        <a:t>deleteProduce()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915"/>
                  </a:ext>
                </a:extLst>
              </a:tr>
              <a:tr h="806899">
                <a:tc>
                  <a:txBody>
                    <a:bodyPr/>
                    <a:lstStyle/>
                    <a:p>
                      <a:r>
                        <a:rPr lang="en-US" dirty="0"/>
                        <a:t>Reporting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Aggregate totals, identify top seller, display summary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generateSalesReport(),</a:t>
                      </a:r>
                    </a:p>
                    <a:p>
                      <a:r>
                        <a:rPr lang="en-US" dirty="0"/>
                        <a:t>findTopSeller()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265081"/>
                  </a:ext>
                </a:extLst>
              </a:tr>
              <a:tr h="806899">
                <a:tc>
                  <a:txBody>
                    <a:bodyPr/>
                    <a:lstStyle/>
                    <a:p>
                      <a:r>
                        <a:rPr lang="en-US" dirty="0"/>
                        <a:t>Authentication 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Verify username and password before system access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authenticate()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1644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277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2D6A1-C3F4-4D99-8709-951599BFD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1756"/>
            <a:ext cx="10515600" cy="1058561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Business Rules and Validation logic</a:t>
            </a:r>
            <a:endParaRPr lang="en-UG" b="1" dirty="0">
              <a:latin typeface="Algerian" panose="04020705040A02060702" pitchFamily="82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9CC4382-5BA8-4CD6-A709-7039837B7C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3652546"/>
              </p:ext>
            </p:extLst>
          </p:nvPr>
        </p:nvGraphicFramePr>
        <p:xfrm>
          <a:off x="1335090" y="2122990"/>
          <a:ext cx="10018710" cy="37521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39570">
                  <a:extLst>
                    <a:ext uri="{9D8B030D-6E8A-4147-A177-3AD203B41FA5}">
                      <a16:colId xmlns:a16="http://schemas.microsoft.com/office/drawing/2014/main" val="3966914300"/>
                    </a:ext>
                  </a:extLst>
                </a:gridCol>
                <a:gridCol w="3339570">
                  <a:extLst>
                    <a:ext uri="{9D8B030D-6E8A-4147-A177-3AD203B41FA5}">
                      <a16:colId xmlns:a16="http://schemas.microsoft.com/office/drawing/2014/main" val="3980193390"/>
                    </a:ext>
                  </a:extLst>
                </a:gridCol>
                <a:gridCol w="3339570">
                  <a:extLst>
                    <a:ext uri="{9D8B030D-6E8A-4147-A177-3AD203B41FA5}">
                      <a16:colId xmlns:a16="http://schemas.microsoft.com/office/drawing/2014/main" val="4033221430"/>
                    </a:ext>
                  </a:extLst>
                </a:gridCol>
              </a:tblGrid>
              <a:tr h="431438">
                <a:tc>
                  <a:txBody>
                    <a:bodyPr/>
                    <a:lstStyle/>
                    <a:p>
                      <a:r>
                        <a:rPr lang="en-US" dirty="0"/>
                        <a:t>RULE</a:t>
                      </a:r>
                      <a:endParaRPr lang="en-UG" dirty="0"/>
                    </a:p>
                  </a:txBody>
                  <a:tcPr marL="87119" marR="8711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TRIGGER</a:t>
                      </a:r>
                      <a:endParaRPr lang="en-UG" dirty="0"/>
                    </a:p>
                  </a:txBody>
                  <a:tcPr marL="87119" marR="8711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SYSTEM RESPONSE</a:t>
                      </a:r>
                      <a:endParaRPr lang="en-UG" dirty="0"/>
                    </a:p>
                  </a:txBody>
                  <a:tcPr marL="87119" marR="87119"/>
                </a:tc>
                <a:extLst>
                  <a:ext uri="{0D108BD9-81ED-4DB2-BD59-A6C34878D82A}">
                    <a16:rowId xmlns:a16="http://schemas.microsoft.com/office/drawing/2014/main" val="338391729"/>
                  </a:ext>
                </a:extLst>
              </a:tr>
              <a:tr h="664144">
                <a:tc>
                  <a:txBody>
                    <a:bodyPr/>
                    <a:lstStyle/>
                    <a:p>
                      <a:r>
                        <a:rPr lang="en-US" dirty="0"/>
                        <a:t>Stock enforcement</a:t>
                      </a:r>
                      <a:endParaRPr lang="en-UG" dirty="0"/>
                    </a:p>
                  </a:txBody>
                  <a:tcPr marL="87119" marR="8711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Requested qty &gt; available stock</a:t>
                      </a:r>
                      <a:endParaRPr lang="en-UG" dirty="0"/>
                    </a:p>
                  </a:txBody>
                  <a:tcPr marL="87119" marR="8711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 blocked; error message displayed</a:t>
                      </a:r>
                      <a:endParaRPr lang="en-UG" dirty="0"/>
                    </a:p>
                  </a:txBody>
                  <a:tcPr marL="87119" marR="87119"/>
                </a:tc>
                <a:extLst>
                  <a:ext uri="{0D108BD9-81ED-4DB2-BD59-A6C34878D82A}">
                    <a16:rowId xmlns:a16="http://schemas.microsoft.com/office/drawing/2014/main" val="3260399532"/>
                  </a:ext>
                </a:extLst>
              </a:tr>
              <a:tr h="664144">
                <a:tc>
                  <a:txBody>
                    <a:bodyPr/>
                    <a:lstStyle/>
                    <a:p>
                      <a:r>
                        <a:rPr lang="en-US" dirty="0"/>
                        <a:t>Bulk discount</a:t>
                      </a:r>
                      <a:endParaRPr lang="en-UG" dirty="0"/>
                    </a:p>
                  </a:txBody>
                  <a:tcPr marL="87119" marR="8711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Qty sold &gt;= 10units</a:t>
                      </a:r>
                      <a:endParaRPr lang="en-UG" dirty="0"/>
                    </a:p>
                  </a:txBody>
                  <a:tcPr marL="87119" marR="8711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10%discount applied to selling price</a:t>
                      </a:r>
                      <a:endParaRPr lang="en-UG" dirty="0"/>
                    </a:p>
                  </a:txBody>
                  <a:tcPr marL="87119" marR="87119"/>
                </a:tc>
                <a:extLst>
                  <a:ext uri="{0D108BD9-81ED-4DB2-BD59-A6C34878D82A}">
                    <a16:rowId xmlns:a16="http://schemas.microsoft.com/office/drawing/2014/main" val="157466816"/>
                  </a:ext>
                </a:extLst>
              </a:tr>
              <a:tr h="664144">
                <a:tc>
                  <a:txBody>
                    <a:bodyPr/>
                    <a:lstStyle/>
                    <a:p>
                      <a:r>
                        <a:rPr lang="en-US" dirty="0"/>
                        <a:t>Perishability flag</a:t>
                      </a:r>
                      <a:endParaRPr lang="en-UG" dirty="0"/>
                    </a:p>
                  </a:txBody>
                  <a:tcPr marL="87119" marR="8711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Perishable item &amp; days in stock&gt;7</a:t>
                      </a:r>
                      <a:endParaRPr lang="en-UG" dirty="0"/>
                    </a:p>
                  </a:txBody>
                  <a:tcPr marL="87119" marR="8711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Warning displayed; sale may proceed</a:t>
                      </a:r>
                      <a:endParaRPr lang="en-UG" dirty="0"/>
                    </a:p>
                  </a:txBody>
                  <a:tcPr marL="87119" marR="87119"/>
                </a:tc>
                <a:extLst>
                  <a:ext uri="{0D108BD9-81ED-4DB2-BD59-A6C34878D82A}">
                    <a16:rowId xmlns:a16="http://schemas.microsoft.com/office/drawing/2014/main" val="626629121"/>
                  </a:ext>
                </a:extLst>
              </a:tr>
              <a:tr h="664144">
                <a:tc>
                  <a:txBody>
                    <a:bodyPr/>
                    <a:lstStyle/>
                    <a:p>
                      <a:r>
                        <a:rPr lang="en-US" dirty="0"/>
                        <a:t>Restocking alert</a:t>
                      </a:r>
                      <a:endParaRPr lang="en-UG" dirty="0"/>
                    </a:p>
                  </a:txBody>
                  <a:tcPr marL="87119" marR="8711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Remaining qty &lt; 5 after sale</a:t>
                      </a:r>
                      <a:endParaRPr lang="en-UG" dirty="0"/>
                    </a:p>
                  </a:txBody>
                  <a:tcPr marL="87119" marR="8711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Restocking warning displayed post-sale</a:t>
                      </a:r>
                      <a:endParaRPr lang="en-UG" dirty="0"/>
                    </a:p>
                  </a:txBody>
                  <a:tcPr marL="87119" marR="87119"/>
                </a:tc>
                <a:extLst>
                  <a:ext uri="{0D108BD9-81ED-4DB2-BD59-A6C34878D82A}">
                    <a16:rowId xmlns:a16="http://schemas.microsoft.com/office/drawing/2014/main" val="2655310554"/>
                  </a:ext>
                </a:extLst>
              </a:tr>
              <a:tr h="664144">
                <a:tc>
                  <a:txBody>
                    <a:bodyPr/>
                    <a:lstStyle/>
                    <a:p>
                      <a:r>
                        <a:rPr lang="en-US" dirty="0"/>
                        <a:t>Loss warning </a:t>
                      </a:r>
                      <a:endParaRPr lang="en-UG" dirty="0"/>
                    </a:p>
                  </a:txBody>
                  <a:tcPr marL="87119" marR="8711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Selling price &lt; cost price</a:t>
                      </a:r>
                      <a:endParaRPr lang="en-UG" dirty="0"/>
                    </a:p>
                  </a:txBody>
                  <a:tcPr marL="87119" marR="87119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Loss warning displayed; sale may proceed</a:t>
                      </a:r>
                      <a:endParaRPr lang="en-UG" dirty="0"/>
                    </a:p>
                  </a:txBody>
                  <a:tcPr marL="87119" marR="87119"/>
                </a:tc>
                <a:extLst>
                  <a:ext uri="{0D108BD9-81ED-4DB2-BD59-A6C34878D82A}">
                    <a16:rowId xmlns:a16="http://schemas.microsoft.com/office/drawing/2014/main" val="1736866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77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A7329-0BC6-40D2-97CB-974954040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931"/>
            <a:ext cx="10515600" cy="1046986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CHALLENGES ENCOUNTERED</a:t>
            </a:r>
            <a:endParaRPr lang="en-UG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6E5AA-A29F-4493-B959-D1967162B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6917"/>
            <a:ext cx="10515600" cy="4486275"/>
          </a:xfrm>
        </p:spPr>
        <p:txBody>
          <a:bodyPr/>
          <a:lstStyle/>
          <a:p>
            <a:r>
              <a:rPr lang="en-US" dirty="0"/>
              <a:t>Maintaining data integrity during delete: deleting an element from the middle of an array requires shifting subsequent elements.</a:t>
            </a:r>
          </a:p>
          <a:p>
            <a:r>
              <a:rPr lang="en-US" dirty="0"/>
              <a:t>Date arithmetic in C.</a:t>
            </a:r>
          </a:p>
          <a:p>
            <a:r>
              <a:rPr lang="en-US" dirty="0"/>
              <a:t>Balancing simplicity and features.</a:t>
            </a:r>
          </a:p>
          <a:p>
            <a:r>
              <a:rPr lang="en-US" dirty="0"/>
              <a:t>Testing edge cases.</a:t>
            </a:r>
          </a:p>
          <a:p>
            <a:r>
              <a:rPr lang="en-US" dirty="0"/>
              <a:t>Input buffer management.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192101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81BDB-1011-46FE-A37B-9387BE91C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39584"/>
          </a:xfrm>
        </p:spPr>
        <p:txBody>
          <a:bodyPr/>
          <a:lstStyle/>
          <a:p>
            <a:r>
              <a:rPr lang="en-US" b="1" dirty="0">
                <a:latin typeface="Algerian" panose="04020705040A02060702" pitchFamily="82" charset="0"/>
              </a:rPr>
              <a:t>CONCLUSION</a:t>
            </a:r>
            <a:endParaRPr lang="en-UG" b="1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69836-C725-41FA-814B-C215090D3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71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program demonstrates a sound understanding of core C programming concepts including structs, arrays, functions, pointers, string handling , input validation, conditional  logic and loops.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Some future enhancements could include file-based persistence (saving and loading the inventory between sessions), a graphical user interface, dynamic memory allocation to remove the 100-item cap, and more robust date arithmetic using the standard library.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426379037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255</TotalTime>
  <Words>745</Words>
  <Application>Microsoft Office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Algerian</vt:lpstr>
      <vt:lpstr>Arial</vt:lpstr>
      <vt:lpstr>Corbel</vt:lpstr>
      <vt:lpstr>Parallax</vt:lpstr>
      <vt:lpstr>TEMB 1202-COMPUTING FARM PRODUCE SALES SYSTEM</vt:lpstr>
      <vt:lpstr>INTRODUCTION:</vt:lpstr>
      <vt:lpstr>Problem statement</vt:lpstr>
      <vt:lpstr>Objectives:</vt:lpstr>
      <vt:lpstr>System features</vt:lpstr>
      <vt:lpstr>Data Structures</vt:lpstr>
      <vt:lpstr>System architecture</vt:lpstr>
      <vt:lpstr>Business Rules and Validation logic</vt:lpstr>
      <vt:lpstr>CHALLENGES ENCOUNTERED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ELVIS BECKHAM</dc:creator>
  <cp:lastModifiedBy>ELVIS BECKHAM</cp:lastModifiedBy>
  <cp:revision>16</cp:revision>
  <dcterms:created xsi:type="dcterms:W3CDTF">2026-05-27T06:09:10Z</dcterms:created>
  <dcterms:modified xsi:type="dcterms:W3CDTF">2026-05-27T12:52:21Z</dcterms:modified>
</cp:coreProperties>
</file>